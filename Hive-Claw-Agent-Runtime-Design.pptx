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Hive-Claw Agent Runtime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spc="150" kern="0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 AI Agent 平台架构设计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Capability-based WASM Plugin Runtime | 零信任安全 | 多层 Agent 编排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0C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90800" cy="1714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417320"/>
            <a:ext cx="213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192024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</a:rPr>
              <a:t>项目概述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213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平台定位与核心价值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76600" y="1188720"/>
            <a:ext cx="2590800" cy="1714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5200" y="1417320"/>
            <a:ext cx="213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505200" y="192024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</a:rPr>
              <a:t>核心架构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05200" y="2331720"/>
            <a:ext cx="213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分层设计与技术栈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6000" y="1188720"/>
            <a:ext cx="2590800" cy="1714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24600" y="1417320"/>
            <a:ext cx="213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24600" y="192024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</a:rPr>
              <a:t>安全模型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24600" y="2331720"/>
            <a:ext cx="213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Capability 零信任机制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131820"/>
            <a:ext cx="2590800" cy="1714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360420"/>
            <a:ext cx="213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85800" y="386334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</a:rPr>
              <a:t>Agent 编排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" y="4274820"/>
            <a:ext cx="213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多层路由与 Workflow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76600" y="3131820"/>
            <a:ext cx="2590800" cy="17145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05200" y="3360420"/>
            <a:ext cx="213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505200" y="386334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C4A6E"/>
                </a:solidFill>
              </a:rPr>
              <a:t>性能指标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05200" y="4274820"/>
            <a:ext cx="2133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关键性能与扩展能力</a:t>
            </a:r>
            <a:endParaRPr lang="en-US" sz="13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项目概述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C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平台定位与核心价值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Hive-Claw Agent Runtime 是一个企业级 AI Agent 运行时平台，基于 Capability 安全模型和 WASM 插件容器，提供可扩展、可审计、零信任的智能体编排能力。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3017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</a:rPr>
              <a:t>核心价值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4747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C4A6E"/>
                </a:solidFill>
              </a:rPr>
              <a:t>安全隔离：WASM 沙箱 + Capability 鉴权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C4A6E"/>
                </a:solidFill>
              </a:rPr>
              <a:t>灵活扩展：支持 9+ 语言编写插件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C4A6E"/>
                </a:solidFill>
              </a:rPr>
              <a:t>智能编排：LLM 自决路由 + 硬规则安全门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C4A6E"/>
                </a:solidFill>
              </a:rPr>
              <a:t>全链路审计：每次调用可追溯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8348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插件语言支持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0" y="155448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95160" y="1737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≤50ms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995160" y="23317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Plugin 调用延迟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2004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3383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≤8s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83480" y="3977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端到端对话延迟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0" y="32004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33832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995160" y="39776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越权调用拦截</a:t>
            </a:r>
            <a:endParaRPr lang="en-US" sz="12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核心架构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C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分层架构设计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0" y="146304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0" y="14630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858768" y="1463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多 Agent 编排 / 路由决策 / SSE 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2103120"/>
            <a:ext cx="0" cy="18288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28800" y="228600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28800" y="22860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Tool &amp; Skill 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58768" y="2286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Function 包装 / Workflow DAG / Skill 拼接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926080"/>
            <a:ext cx="0" cy="18288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28800" y="310896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2D5A6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28800" y="31089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Function 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58768" y="31089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内置函数 / 定制 Plugin 函数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749040"/>
            <a:ext cx="0" cy="18288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828800" y="393192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0A4D68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9319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Plugin 层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58768" y="39319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WASM 沙箱 / Instance Pool / Extism Runtime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4572000"/>
            <a:ext cx="0" cy="18288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828800" y="475488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828800" y="4754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Capability 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58768" y="47548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host_call 鉴权 / 派发 / 审计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1463040"/>
            <a:ext cx="2011680" cy="39319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58000" y="16459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技术栈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0" y="2103120"/>
            <a:ext cx="1645920" cy="3108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</a:rPr>
              <a:t>Rust 1.85+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</a:rPr>
              <a:t>Axum + Tokio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</a:rPr>
              <a:t>Extism WASM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</a:rPr>
              <a:t>MySQL + Redis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</a:rPr>
              <a:t>React + AntD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</a:rPr>
              <a:t>OpenAI 兼容 LLM</a:t>
            </a:r>
            <a:endParaRPr lang="en-US" sz="1100" dirty="0"/>
          </a:p>
        </p:txBody>
      </p:sp>
      <p:sp>
        <p:nvSpPr>
          <p:cNvPr id="2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核心架构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50" kern="0" dirty="0">
                <a:solidFill>
                  <a:srgbClr val="0C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五层抽象：Plugin → Function → Tool/Skill → 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463040" cy="3200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146304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69A1"/>
                </a:solidFill>
              </a:rPr>
              <a:t>Agent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1005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自然语言交互单元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系统提示词 + 工具集 + 权限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1554480"/>
            <a:ext cx="1463040" cy="3200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48840" y="1554480"/>
            <a:ext cx="146304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69A1"/>
                </a:solidFill>
              </a:rPr>
              <a:t>Tool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7440" y="2194560"/>
            <a:ext cx="1005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对外暴露的可调用项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包装 Function 或 Workflow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840480" y="1554480"/>
            <a:ext cx="1463040" cy="3200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0" y="1554480"/>
            <a:ext cx="146304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406908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69A1"/>
                </a:solidFill>
              </a:rPr>
              <a:t>Skill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69080" y="2194560"/>
            <a:ext cx="1005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上层能力封装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Markdown 描述拼入提示词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532120" y="1554480"/>
            <a:ext cx="1463040" cy="3200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532120" y="1554480"/>
            <a:ext cx="146304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69A1"/>
                </a:solidFill>
              </a:rPr>
              <a:t>Function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2194560"/>
            <a:ext cx="1005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最小执行单元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内置或绑定 Plugin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554480"/>
            <a:ext cx="1463040" cy="3200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3760" y="1554480"/>
            <a:ext cx="146304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2" name="Text 20"/>
          <p:cNvSpPr/>
          <p:nvPr/>
        </p:nvSpPr>
        <p:spPr>
          <a:xfrm>
            <a:off x="7452360" y="1737360"/>
            <a:ext cx="1005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69A1"/>
                </a:solidFill>
              </a:rPr>
              <a:t>Plugin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52360" y="2194560"/>
            <a:ext cx="1005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WASM 二进制 + 元数据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跨语言可扩展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920240" y="3154680"/>
            <a:ext cx="2286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11880" y="3154680"/>
            <a:ext cx="2286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03520" y="3154680"/>
            <a:ext cx="2286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95160" y="3154680"/>
            <a:ext cx="2286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安全模型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C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Capability 零信任安全机制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</a:rPr>
              <a:t>核心原则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24028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C4A6E"/>
                </a:solidFill>
              </a:rPr>
              <a:t>默认拒绝：未声明 = 不可调用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C4A6E"/>
                </a:solidFill>
              </a:rPr>
              <a:t>最小权限：Agent 仅拥有显式授予的能力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C4A6E"/>
                </a:solidFill>
              </a:rPr>
              <a:t>不继承：子 Agent 不继承父 Agent 权限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C4A6E"/>
                </a:solidFill>
              </a:rPr>
              <a:t>审计追踪：每次调用强制记录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C4A6E"/>
                </a:solidFill>
              </a:rPr>
              <a:t>危险能力：Super 角色专属管控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7830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</a:rPr>
              <a:t>Capability 清单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74920" y="2240280"/>
            <a:ext cx="7315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257800" y="22402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</a:rPr>
              <a:t>network.http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22402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HTTP 访问（SSRF 防护）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2624328"/>
            <a:ext cx="7315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5257800" y="26243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</a:rPr>
              <a:t>db.execute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0" y="26243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命名 DML（无自由 SQL）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3008376"/>
            <a:ext cx="73152" cy="29260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30083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</a:rPr>
              <a:t>secret.get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49440" y="30083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密钥读取（白名单）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74920" y="3392424"/>
            <a:ext cx="73152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9" name="Text 17"/>
          <p:cNvSpPr/>
          <p:nvPr/>
        </p:nvSpPr>
        <p:spPr>
          <a:xfrm>
            <a:off x="5257800" y="33924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</a:rPr>
              <a:t>fs.read/write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0" y="33924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受控目录文件读写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4920" y="3776472"/>
            <a:ext cx="73152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257800" y="37764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</a:rPr>
              <a:t>s3.read/write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37764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对象存储访问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4160520"/>
            <a:ext cx="73152" cy="2926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5257800" y="4160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</a:rPr>
              <a:t>llm.invoke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49440" y="4160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大模型调用</a:t>
            </a:r>
            <a:endParaRPr lang="en-US" sz="10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安全模型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C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WASM 沙箱隔离与实例池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2560320" cy="3108960"/>
          </a:xfrm>
          <a:prstGeom prst="roundRect">
            <a:avLst>
              <a:gd name="adj" fmla="val 5357"/>
            </a:avLst>
          </a:prstGeom>
          <a:solidFill>
            <a:srgbClr val="E0F2FE"/>
          </a:solidFill>
          <a:ln w="254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宿主进程 (Rust)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210312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103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A6E"/>
                </a:solidFill>
              </a:rPr>
              <a:t>Plugin 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97280" y="30632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0632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A6E"/>
                </a:solidFill>
              </a:rPr>
              <a:t>Plugin 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402336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40233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C4A6E"/>
                </a:solidFill>
              </a:rPr>
              <a:t>Plugin 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474720" y="3017520"/>
            <a:ext cx="914400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566160" y="27432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369A1"/>
                </a:solidFill>
              </a:rPr>
              <a:t>host_call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377440"/>
            <a:ext cx="2011680" cy="1280160"/>
          </a:xfrm>
          <a:prstGeom prst="roundRect">
            <a:avLst>
              <a:gd name="adj" fmla="val 7143"/>
            </a:avLst>
          </a:prstGeom>
          <a:solidFill>
            <a:srgbClr val="0369A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2377440"/>
            <a:ext cx="201168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Capability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Dispatcher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017520"/>
            <a:ext cx="731520" cy="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406640" y="19202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7406640" y="19202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网络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26060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7406640" y="26060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数据库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06640" y="32918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32918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存储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06640" y="3977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7406640" y="39776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LLM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2062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C4A6E"/>
                </a:solidFill>
              </a:rPr>
              <a:t>实例池：每 Plugin 最多 8 实例 | 全局 64 实例 | 空闲 10 分钟回收 | 单次调用 ≤30s / 128MB</a:t>
            </a:r>
            <a:endParaRPr lang="en-US" sz="12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Agent 编排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C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多层 Agent 路由决策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13716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0369A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 (入口)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2011680"/>
            <a:ext cx="-1371600" cy="5486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4572000" y="2011680"/>
            <a:ext cx="1371600" cy="5486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3200400" y="2560320"/>
            <a:ext cx="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2560320"/>
            <a:ext cx="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25603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coding-expert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256032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2560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ops-expert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200400"/>
            <a:ext cx="0" cy="4572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86000" y="3657600"/>
            <a:ext cx="1828800" cy="64008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86000" y="3657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rust-expert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3291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12080" y="3429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安全约束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12080" y="3749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</a:rPr>
              <a:t>深度 ≤ 10 层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</a:rPr>
              <a:t>同会话循环检测（已访问拒绝）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</a:rPr>
              <a:t>最大 5 跳路由（可配置）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0C4A6E"/>
                </a:solidFill>
              </a:rPr>
              <a:t>仅允许路由到直接子 Agent</a:t>
            </a:r>
            <a:endParaRPr lang="en-US" sz="11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Agent 编排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C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 DAG 工作流编排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11680" y="2103120"/>
            <a:ext cx="182880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840480" y="2103120"/>
            <a:ext cx="1828800" cy="-4572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840480" y="2103120"/>
            <a:ext cx="1828800" cy="4572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69280" y="1645920"/>
            <a:ext cx="1828800" cy="4572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669280" y="2560320"/>
            <a:ext cx="1828800" cy="-45720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182880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0369A1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82880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Function 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137160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13716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Function 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0" y="228600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0" y="22860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Function 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1828800"/>
            <a:ext cx="1280160" cy="54864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0" y="1828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657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</a:rPr>
              <a:t>Workflow 特性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C4A6E"/>
                </a:solidFill>
              </a:rPr>
              <a:t>可视化 DAG 编辑器（ReactFlow）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133088"/>
            <a:ext cx="54864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43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C4A6E"/>
                </a:solidFill>
              </a:rPr>
              <a:t>拓扑排序执行，独立分支并行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453128"/>
            <a:ext cx="54864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663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C4A6E"/>
                </a:solidFill>
              </a:rPr>
              <a:t>节点级超时与错误短路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4773168"/>
            <a:ext cx="54864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C4A6E"/>
                </a:solidFill>
              </a:rPr>
              <a:t>环检测与保存时校验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4133088"/>
            <a:ext cx="54864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4343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C4A6E"/>
                </a:solidFill>
              </a:rPr>
              <a:t>支持 LLM 生成节点（generate_answer_node）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4453128"/>
            <a:ext cx="54864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性能指标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C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关键性能与扩展能力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91640"/>
            <a:ext cx="2133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≤5ms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Capability 鉴权开销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74320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p95，不含目标资源耗时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05200" y="1691640"/>
            <a:ext cx="2133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≤50ms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05200" y="237744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Plugin 调用（命中）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05200" y="274320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p95，Instance Pool 命中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24600" y="1691640"/>
            <a:ext cx="2133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≤300ms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324600" y="237744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Plugin 冷启动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4600" y="274320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p95，首次编译 WASM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1470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543300"/>
            <a:ext cx="2133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≤1.5s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85800" y="422910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Agent 路由决策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459486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p95，含 LLM 调用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76600" y="331470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05200" y="3543300"/>
            <a:ext cx="2133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≤8s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505200" y="422910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端到端对话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05200" y="459486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p95，入口→路由→工具→回复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96000" y="331470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24600" y="3543300"/>
            <a:ext cx="2133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324600" y="422910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越权拦截率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24600" y="459486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Capability 鉴权零漏放</a:t>
            </a:r>
            <a:endParaRPr lang="en-US" sz="11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性能指标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C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平台扩展规模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69164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Plugin 上限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76600" y="146304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05200" y="169164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2,000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05200" y="24688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Function 上限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6000" y="146304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4600" y="169164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324600" y="246888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Agent 上限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31470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54330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5800" y="432054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并发对话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76600" y="331470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05200" y="354330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505200" y="432054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Instance Pool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96000" y="331470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24600" y="354330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24600" y="4320540"/>
            <a:ext cx="2133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</a:rPr>
              <a:t>Agent 嵌套深度</a:t>
            </a:r>
            <a:endParaRPr lang="en-US" sz="14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管理后台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0C4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管理界面功能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5908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4A6E"/>
                </a:solidFill>
              </a:rPr>
              <a:t>Plugin 管理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上传 WASM、版本控制、三维检索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76600" y="146304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76600" y="1463040"/>
            <a:ext cx="25908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505200" y="164592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4A6E"/>
                </a:solidFill>
              </a:rPr>
              <a:t>Function 管理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05200" y="205740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注册函数、JSON Schema 定义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46304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96000" y="1463040"/>
            <a:ext cx="25908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600" y="164592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4A6E"/>
                </a:solidFill>
              </a:rPr>
              <a:t>Workflow 编排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24600" y="205740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可视化 DAG 编辑器、拖拽连线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31470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314700"/>
            <a:ext cx="25908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975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4A6E"/>
                </a:solidFill>
              </a:rPr>
              <a:t>Agent 配置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" y="39090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树形层级、工具绑定、权限分配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76600" y="331470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76600" y="3314700"/>
            <a:ext cx="25908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3505200" y="34975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4A6E"/>
                </a:solidFill>
              </a:rPr>
              <a:t>测试聊天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05200" y="39090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SSE 流式对话、实时调试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96000" y="3314700"/>
            <a:ext cx="2590800" cy="162306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96000" y="3314700"/>
            <a:ext cx="25908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6" name="Text 24"/>
          <p:cNvSpPr/>
          <p:nvPr/>
        </p:nvSpPr>
        <p:spPr>
          <a:xfrm>
            <a:off x="6324600" y="3497580"/>
            <a:ext cx="213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C4A6E"/>
                </a:solidFill>
              </a:rPr>
              <a:t>审计日志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24600" y="3909060"/>
            <a:ext cx="2133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运行时审计、安全分析</a:t>
            </a:r>
            <a:endParaRPr lang="en-US" sz="12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Hive-Claw Agent Runtime 是一个面向企业的安全、可扩展、可审计的 AI Agent 平台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560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WASM 沙箱 + Capability 零信任 = 企业级安全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697480"/>
            <a:ext cx="73152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多层 Agent 编排 + Workflow DAG = 灵活智能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3154680"/>
            <a:ext cx="73152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474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Instance Pool + 多模型 Fallback = 高性能可靠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611880"/>
            <a:ext cx="73152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全链路审计 + RBAC = 合规可控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7280" y="4069080"/>
            <a:ext cx="73152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Hive-Claw Agent Runtime 平台设计</dc:title>
  <dc:subject>PptxGenJS Presentation</dc:subject>
  <dc:creator>Hive-Claw Team</dc:creator>
  <cp:lastModifiedBy>Hive-Claw Team</cp:lastModifiedBy>
  <cp:revision>1</cp:revision>
  <dcterms:created xsi:type="dcterms:W3CDTF">2026-06-09T13:00:51Z</dcterms:created>
  <dcterms:modified xsi:type="dcterms:W3CDTF">2026-06-09T13:00:51Z</dcterms:modified>
</cp:coreProperties>
</file>